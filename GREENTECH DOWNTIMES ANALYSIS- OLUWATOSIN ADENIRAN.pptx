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21"/>
  </p:notesMasterIdLst>
  <p:sldIdLst>
    <p:sldId id="262" r:id="rId2"/>
    <p:sldId id="256" r:id="rId3"/>
    <p:sldId id="263" r:id="rId4"/>
    <p:sldId id="265" r:id="rId5"/>
    <p:sldId id="264" r:id="rId6"/>
    <p:sldId id="273" r:id="rId7"/>
    <p:sldId id="269" r:id="rId8"/>
    <p:sldId id="270" r:id="rId9"/>
    <p:sldId id="271" r:id="rId10"/>
    <p:sldId id="272" r:id="rId11"/>
    <p:sldId id="280" r:id="rId12"/>
    <p:sldId id="276" r:id="rId13"/>
    <p:sldId id="277" r:id="rId14"/>
    <p:sldId id="278" r:id="rId15"/>
    <p:sldId id="275" r:id="rId16"/>
    <p:sldId id="268" r:id="rId17"/>
    <p:sldId id="274" r:id="rId18"/>
    <p:sldId id="267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4BC91-A40E-4D8E-A41C-4634909822FF}" v="3" dt="2026-06-22T18:33:32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tosin Ayodele" userId="a8367082e9ab5402" providerId="LiveId" clId="{470A5ACE-1ED0-4AFC-9293-9D5F93EF709B}"/>
    <pc:docChg chg="undo custSel addSld modSld sldOrd">
      <pc:chgData name="Oluwatosin Ayodele" userId="a8367082e9ab5402" providerId="LiveId" clId="{470A5ACE-1ED0-4AFC-9293-9D5F93EF709B}" dt="2026-06-22T18:38:19.151" v="113"/>
      <pc:docMkLst>
        <pc:docMk/>
      </pc:docMkLst>
      <pc:sldChg chg="modSp mod">
        <pc:chgData name="Oluwatosin Ayodele" userId="a8367082e9ab5402" providerId="LiveId" clId="{470A5ACE-1ED0-4AFC-9293-9D5F93EF709B}" dt="2026-06-22T18:06:13.149" v="2" actId="1076"/>
        <pc:sldMkLst>
          <pc:docMk/>
          <pc:sldMk cId="1305513006" sldId="264"/>
        </pc:sldMkLst>
        <pc:picChg chg="mod">
          <ac:chgData name="Oluwatosin Ayodele" userId="a8367082e9ab5402" providerId="LiveId" clId="{470A5ACE-1ED0-4AFC-9293-9D5F93EF709B}" dt="2026-06-22T18:06:07.290" v="1" actId="1076"/>
          <ac:picMkLst>
            <pc:docMk/>
            <pc:sldMk cId="1305513006" sldId="264"/>
            <ac:picMk id="5" creationId="{6267A9EF-5A6A-7B3C-8E81-02AB9D163793}"/>
          </ac:picMkLst>
        </pc:picChg>
        <pc:picChg chg="mod">
          <ac:chgData name="Oluwatosin Ayodele" userId="a8367082e9ab5402" providerId="LiveId" clId="{470A5ACE-1ED0-4AFC-9293-9D5F93EF709B}" dt="2026-06-22T18:06:13.149" v="2" actId="1076"/>
          <ac:picMkLst>
            <pc:docMk/>
            <pc:sldMk cId="1305513006" sldId="264"/>
            <ac:picMk id="7" creationId="{134CA2FF-C708-BC9F-1F9B-B9E92A38DDC4}"/>
          </ac:picMkLst>
        </pc:picChg>
      </pc:sldChg>
      <pc:sldChg chg="modSp mod">
        <pc:chgData name="Oluwatosin Ayodele" userId="a8367082e9ab5402" providerId="LiveId" clId="{470A5ACE-1ED0-4AFC-9293-9D5F93EF709B}" dt="2026-06-22T18:22:07.135" v="18" actId="20577"/>
        <pc:sldMkLst>
          <pc:docMk/>
          <pc:sldMk cId="310924394" sldId="273"/>
        </pc:sldMkLst>
        <pc:spChg chg="mod">
          <ac:chgData name="Oluwatosin Ayodele" userId="a8367082e9ab5402" providerId="LiveId" clId="{470A5ACE-1ED0-4AFC-9293-9D5F93EF709B}" dt="2026-06-22T18:22:07.135" v="18" actId="20577"/>
          <ac:spMkLst>
            <pc:docMk/>
            <pc:sldMk cId="310924394" sldId="273"/>
            <ac:spMk id="3" creationId="{3483F9C8-CFFA-FC2A-A232-09554BF1D865}"/>
          </ac:spMkLst>
        </pc:spChg>
      </pc:sldChg>
      <pc:sldChg chg="addSp delSp modSp new mod ord">
        <pc:chgData name="Oluwatosin Ayodele" userId="a8367082e9ab5402" providerId="LiveId" clId="{470A5ACE-1ED0-4AFC-9293-9D5F93EF709B}" dt="2026-06-22T18:38:19.151" v="113"/>
        <pc:sldMkLst>
          <pc:docMk/>
          <pc:sldMk cId="1380870755" sldId="280"/>
        </pc:sldMkLst>
        <pc:spChg chg="mod">
          <ac:chgData name="Oluwatosin Ayodele" userId="a8367082e9ab5402" providerId="LiveId" clId="{470A5ACE-1ED0-4AFC-9293-9D5F93EF709B}" dt="2026-06-22T18:36:05.952" v="74" actId="14100"/>
          <ac:spMkLst>
            <pc:docMk/>
            <pc:sldMk cId="1380870755" sldId="280"/>
            <ac:spMk id="2" creationId="{B25BEA7E-B414-FA3C-6003-6E422A2BE777}"/>
          </ac:spMkLst>
        </pc:spChg>
        <pc:spChg chg="add del mod">
          <ac:chgData name="Oluwatosin Ayodele" userId="a8367082e9ab5402" providerId="LiveId" clId="{470A5ACE-1ED0-4AFC-9293-9D5F93EF709B}" dt="2026-06-22T18:37:30.295" v="104" actId="113"/>
          <ac:spMkLst>
            <pc:docMk/>
            <pc:sldMk cId="1380870755" sldId="280"/>
            <ac:spMk id="3" creationId="{D4562048-EE88-E4F2-15D0-6A3B4C523DCA}"/>
          </ac:spMkLst>
        </pc:spChg>
        <pc:spChg chg="add mod">
          <ac:chgData name="Oluwatosin Ayodele" userId="a8367082e9ab5402" providerId="LiveId" clId="{470A5ACE-1ED0-4AFC-9293-9D5F93EF709B}" dt="2026-06-22T18:37:54.887" v="109" actId="1076"/>
          <ac:spMkLst>
            <pc:docMk/>
            <pc:sldMk cId="1380870755" sldId="280"/>
            <ac:spMk id="5" creationId="{07F079E5-66C3-53EC-7391-2942CEE36684}"/>
          </ac:spMkLst>
        </pc:spChg>
        <pc:graphicFrameChg chg="add del">
          <ac:chgData name="Oluwatosin Ayodele" userId="a8367082e9ab5402" providerId="LiveId" clId="{470A5ACE-1ED0-4AFC-9293-9D5F93EF709B}" dt="2026-06-22T18:34:56.627" v="65" actId="26606"/>
          <ac:graphicFrameMkLst>
            <pc:docMk/>
            <pc:sldMk cId="1380870755" sldId="280"/>
            <ac:graphicFrameMk id="7" creationId="{9FD35166-D7CE-704A-098F-A04090CC8E8B}"/>
          </ac:graphicFrameMkLst>
        </pc:graphicFrameChg>
        <pc:graphicFrameChg chg="add del">
          <ac:chgData name="Oluwatosin Ayodele" userId="a8367082e9ab5402" providerId="LiveId" clId="{470A5ACE-1ED0-4AFC-9293-9D5F93EF709B}" dt="2026-06-22T18:35:11.070" v="67" actId="26606"/>
          <ac:graphicFrameMkLst>
            <pc:docMk/>
            <pc:sldMk cId="1380870755" sldId="280"/>
            <ac:graphicFrameMk id="9" creationId="{CE99D579-BE96-0C98-1A5B-EA24DB69D293}"/>
          </ac:graphicFrameMkLst>
        </pc:graphicFrameChg>
        <pc:graphicFrameChg chg="add del">
          <ac:chgData name="Oluwatosin Ayodele" userId="a8367082e9ab5402" providerId="LiveId" clId="{470A5ACE-1ED0-4AFC-9293-9D5F93EF709B}" dt="2026-06-22T18:35:17.132" v="69" actId="26606"/>
          <ac:graphicFrameMkLst>
            <pc:docMk/>
            <pc:sldMk cId="1380870755" sldId="280"/>
            <ac:graphicFrameMk id="11" creationId="{C8B5EF05-A910-1696-46ED-2664F777149E}"/>
          </ac:graphicFrameMkLst>
        </pc:graphicFrameChg>
        <pc:graphicFrameChg chg="add del modGraphic">
          <ac:chgData name="Oluwatosin Ayodele" userId="a8367082e9ab5402" providerId="LiveId" clId="{470A5ACE-1ED0-4AFC-9293-9D5F93EF709B}" dt="2026-06-22T18:35:57.285" v="73" actId="26606"/>
          <ac:graphicFrameMkLst>
            <pc:docMk/>
            <pc:sldMk cId="1380870755" sldId="280"/>
            <ac:graphicFrameMk id="13" creationId="{54426389-9F1F-7790-89C4-B0723E0B766E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06D1CB-B13D-43C0-99B6-773E4EC4B87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5DF0CC83-6DA9-480F-A84A-E0304E20E650}">
      <dgm:prSet phldrT="[Text]"/>
      <dgm:spPr/>
      <dgm:t>
        <a:bodyPr/>
        <a:lstStyle/>
        <a:p>
          <a:r>
            <a:rPr lang="en-US" dirty="0"/>
            <a:t>645 Batches processed</a:t>
          </a:r>
          <a:endParaRPr lang="en-GB" dirty="0"/>
        </a:p>
      </dgm:t>
    </dgm:pt>
    <dgm:pt modelId="{18795BF6-5176-4E19-A17B-054FD815F6DD}" type="parTrans" cxnId="{D4FC84EE-0C38-44A5-B03F-6D101A89244E}">
      <dgm:prSet/>
      <dgm:spPr/>
      <dgm:t>
        <a:bodyPr/>
        <a:lstStyle/>
        <a:p>
          <a:endParaRPr lang="en-GB"/>
        </a:p>
      </dgm:t>
    </dgm:pt>
    <dgm:pt modelId="{E241324D-46DC-419B-A664-2AA3441AE4F2}" type="sibTrans" cxnId="{D4FC84EE-0C38-44A5-B03F-6D101A89244E}">
      <dgm:prSet/>
      <dgm:spPr/>
      <dgm:t>
        <a:bodyPr/>
        <a:lstStyle/>
        <a:p>
          <a:endParaRPr lang="en-GB"/>
        </a:p>
      </dgm:t>
    </dgm:pt>
    <dgm:pt modelId="{BBA96B79-F070-4625-AA95-0E6B2989ECF2}">
      <dgm:prSet phldrT="[Text]"/>
      <dgm:spPr/>
      <dgm:t>
        <a:bodyPr/>
        <a:lstStyle/>
        <a:p>
          <a:r>
            <a:rPr lang="en-US" dirty="0"/>
            <a:t>363 Delayed Batches</a:t>
          </a:r>
          <a:endParaRPr lang="en-GB" dirty="0"/>
        </a:p>
      </dgm:t>
    </dgm:pt>
    <dgm:pt modelId="{D90AC4EE-6572-4327-B6F0-B330C755024F}" type="parTrans" cxnId="{6B0D8DA3-B873-417E-B917-1EAB414FF5EC}">
      <dgm:prSet/>
      <dgm:spPr/>
      <dgm:t>
        <a:bodyPr/>
        <a:lstStyle/>
        <a:p>
          <a:endParaRPr lang="en-GB"/>
        </a:p>
      </dgm:t>
    </dgm:pt>
    <dgm:pt modelId="{85BEA1A5-9CB3-4B89-85DC-DFFED36913A1}" type="sibTrans" cxnId="{6B0D8DA3-B873-417E-B917-1EAB414FF5EC}">
      <dgm:prSet/>
      <dgm:spPr/>
      <dgm:t>
        <a:bodyPr/>
        <a:lstStyle/>
        <a:p>
          <a:endParaRPr lang="en-GB"/>
        </a:p>
      </dgm:t>
    </dgm:pt>
    <dgm:pt modelId="{DE248E03-62B9-4B4B-8A8E-41DB3B89011F}">
      <dgm:prSet phldrT="[Text]"/>
      <dgm:spPr/>
      <dgm:t>
        <a:bodyPr/>
        <a:lstStyle/>
        <a:p>
          <a:r>
            <a:rPr lang="en-US" dirty="0"/>
            <a:t>885 Downtime Factors</a:t>
          </a:r>
          <a:endParaRPr lang="en-GB" dirty="0"/>
        </a:p>
      </dgm:t>
    </dgm:pt>
    <dgm:pt modelId="{0498D3CC-F030-466E-BB42-B8F50D7DDF8E}" type="parTrans" cxnId="{3314B189-ABAB-4020-B170-D6839F4B5954}">
      <dgm:prSet/>
      <dgm:spPr/>
      <dgm:t>
        <a:bodyPr/>
        <a:lstStyle/>
        <a:p>
          <a:endParaRPr lang="en-GB"/>
        </a:p>
      </dgm:t>
    </dgm:pt>
    <dgm:pt modelId="{8872AC19-CF37-4CB5-8F9A-ED561E1C0D9C}" type="sibTrans" cxnId="{3314B189-ABAB-4020-B170-D6839F4B5954}">
      <dgm:prSet/>
      <dgm:spPr/>
      <dgm:t>
        <a:bodyPr/>
        <a:lstStyle/>
        <a:p>
          <a:endParaRPr lang="en-GB"/>
        </a:p>
      </dgm:t>
    </dgm:pt>
    <dgm:pt modelId="{4BDFEE15-9D3D-4712-8ABD-0DE936213566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21.74 Days Lost</a:t>
          </a:r>
          <a:endParaRPr lang="en-GB" dirty="0">
            <a:solidFill>
              <a:schemeClr val="tx1"/>
            </a:solidFill>
          </a:endParaRPr>
        </a:p>
      </dgm:t>
    </dgm:pt>
    <dgm:pt modelId="{91C4F596-3148-4459-ABB4-DFBB55E9CBE9}" type="parTrans" cxnId="{0EA2480F-15F2-49D7-B348-D2C64B3FDB10}">
      <dgm:prSet/>
      <dgm:spPr/>
      <dgm:t>
        <a:bodyPr/>
        <a:lstStyle/>
        <a:p>
          <a:endParaRPr lang="en-GB"/>
        </a:p>
      </dgm:t>
    </dgm:pt>
    <dgm:pt modelId="{499478CF-E5C3-42CA-B0E8-0E5DA1F2FD75}" type="sibTrans" cxnId="{0EA2480F-15F2-49D7-B348-D2C64B3FDB10}">
      <dgm:prSet/>
      <dgm:spPr/>
      <dgm:t>
        <a:bodyPr/>
        <a:lstStyle/>
        <a:p>
          <a:endParaRPr lang="en-GB"/>
        </a:p>
      </dgm:t>
    </dgm:pt>
    <dgm:pt modelId="{46D527BB-D898-46B2-B685-64CD643924EB}">
      <dgm:prSet/>
      <dgm:spPr/>
      <dgm:t>
        <a:bodyPr/>
        <a:lstStyle/>
        <a:p>
          <a:r>
            <a:rPr lang="en-US"/>
            <a:t>13 Distinct Factors</a:t>
          </a:r>
          <a:endParaRPr lang="en-GB"/>
        </a:p>
      </dgm:t>
    </dgm:pt>
    <dgm:pt modelId="{5F22BA4E-2628-4B95-8470-71D8F20B7C4F}" type="parTrans" cxnId="{A62A1311-9E53-40AC-8A2A-21FACA9359C0}">
      <dgm:prSet/>
      <dgm:spPr/>
      <dgm:t>
        <a:bodyPr/>
        <a:lstStyle/>
        <a:p>
          <a:endParaRPr lang="en-GB"/>
        </a:p>
      </dgm:t>
    </dgm:pt>
    <dgm:pt modelId="{B9D5209C-0088-4573-BB87-7D55FF36E770}" type="sibTrans" cxnId="{A62A1311-9E53-40AC-8A2A-21FACA9359C0}">
      <dgm:prSet/>
      <dgm:spPr/>
      <dgm:t>
        <a:bodyPr/>
        <a:lstStyle/>
        <a:p>
          <a:endParaRPr lang="en-GB"/>
        </a:p>
      </dgm:t>
    </dgm:pt>
    <dgm:pt modelId="{4FA6B33E-E974-4BB1-8D73-6D049FE7FE4E}">
      <dgm:prSet/>
      <dgm:spPr/>
      <dgm:t>
        <a:bodyPr/>
        <a:lstStyle/>
        <a:p>
          <a:r>
            <a:rPr lang="en-US"/>
            <a:t>Max 4 Downtimes per Batch</a:t>
          </a:r>
          <a:endParaRPr lang="en-GB" dirty="0"/>
        </a:p>
      </dgm:t>
    </dgm:pt>
    <dgm:pt modelId="{17FDBB6E-9029-4ECA-8A93-A99155437799}" type="parTrans" cxnId="{211F7554-4FA1-49D1-B4A1-9F48193435EC}">
      <dgm:prSet/>
      <dgm:spPr/>
      <dgm:t>
        <a:bodyPr/>
        <a:lstStyle/>
        <a:p>
          <a:endParaRPr lang="en-GB"/>
        </a:p>
      </dgm:t>
    </dgm:pt>
    <dgm:pt modelId="{86D23552-9500-4D41-94CF-008E96D79070}" type="sibTrans" cxnId="{211F7554-4FA1-49D1-B4A1-9F48193435EC}">
      <dgm:prSet/>
      <dgm:spPr/>
      <dgm:t>
        <a:bodyPr/>
        <a:lstStyle/>
        <a:p>
          <a:endParaRPr lang="en-GB"/>
        </a:p>
      </dgm:t>
    </dgm:pt>
    <dgm:pt modelId="{AC86C554-9AEA-4669-91D8-D516C4593668}" type="pres">
      <dgm:prSet presAssocID="{EB06D1CB-B13D-43C0-99B6-773E4EC4B878}" presName="diagram" presStyleCnt="0">
        <dgm:presLayoutVars>
          <dgm:dir/>
          <dgm:resizeHandles val="exact"/>
        </dgm:presLayoutVars>
      </dgm:prSet>
      <dgm:spPr/>
    </dgm:pt>
    <dgm:pt modelId="{28058A4D-DDFA-477E-8C27-F782D672C8A5}" type="pres">
      <dgm:prSet presAssocID="{5DF0CC83-6DA9-480F-A84A-E0304E20E650}" presName="node" presStyleLbl="node1" presStyleIdx="0" presStyleCnt="6">
        <dgm:presLayoutVars>
          <dgm:bulletEnabled val="1"/>
        </dgm:presLayoutVars>
      </dgm:prSet>
      <dgm:spPr/>
    </dgm:pt>
    <dgm:pt modelId="{CDC8C591-1C60-46E8-817C-64DBE04FF196}" type="pres">
      <dgm:prSet presAssocID="{E241324D-46DC-419B-A664-2AA3441AE4F2}" presName="sibTrans" presStyleCnt="0"/>
      <dgm:spPr/>
    </dgm:pt>
    <dgm:pt modelId="{C379BD4F-BF2C-4099-98A7-D1DC7F2B5DFD}" type="pres">
      <dgm:prSet presAssocID="{BBA96B79-F070-4625-AA95-0E6B2989ECF2}" presName="node" presStyleLbl="node1" presStyleIdx="1" presStyleCnt="6">
        <dgm:presLayoutVars>
          <dgm:bulletEnabled val="1"/>
        </dgm:presLayoutVars>
      </dgm:prSet>
      <dgm:spPr/>
    </dgm:pt>
    <dgm:pt modelId="{8EBAF087-96B3-48D8-9C56-B1A3A855BEA2}" type="pres">
      <dgm:prSet presAssocID="{85BEA1A5-9CB3-4B89-85DC-DFFED36913A1}" presName="sibTrans" presStyleCnt="0"/>
      <dgm:spPr/>
    </dgm:pt>
    <dgm:pt modelId="{15912A45-7941-4850-BCCB-2286372B408E}" type="pres">
      <dgm:prSet presAssocID="{DE248E03-62B9-4B4B-8A8E-41DB3B89011F}" presName="node" presStyleLbl="node1" presStyleIdx="2" presStyleCnt="6">
        <dgm:presLayoutVars>
          <dgm:bulletEnabled val="1"/>
        </dgm:presLayoutVars>
      </dgm:prSet>
      <dgm:spPr/>
    </dgm:pt>
    <dgm:pt modelId="{5B201848-2A12-4E5A-89AE-E960D320424C}" type="pres">
      <dgm:prSet presAssocID="{8872AC19-CF37-4CB5-8F9A-ED561E1C0D9C}" presName="sibTrans" presStyleCnt="0"/>
      <dgm:spPr/>
    </dgm:pt>
    <dgm:pt modelId="{32CBC352-C048-479E-8079-D6A58854E0FD}" type="pres">
      <dgm:prSet presAssocID="{4BDFEE15-9D3D-4712-8ABD-0DE936213566}" presName="node" presStyleLbl="node1" presStyleIdx="3" presStyleCnt="6">
        <dgm:presLayoutVars>
          <dgm:bulletEnabled val="1"/>
        </dgm:presLayoutVars>
      </dgm:prSet>
      <dgm:spPr/>
    </dgm:pt>
    <dgm:pt modelId="{1AC0D2E0-AF53-4D8F-B585-7ED088532563}" type="pres">
      <dgm:prSet presAssocID="{499478CF-E5C3-42CA-B0E8-0E5DA1F2FD75}" presName="sibTrans" presStyleCnt="0"/>
      <dgm:spPr/>
    </dgm:pt>
    <dgm:pt modelId="{CF3794B3-5D01-457F-92DD-BFC318A2D25B}" type="pres">
      <dgm:prSet presAssocID="{46D527BB-D898-46B2-B685-64CD643924EB}" presName="node" presStyleLbl="node1" presStyleIdx="4" presStyleCnt="6">
        <dgm:presLayoutVars>
          <dgm:bulletEnabled val="1"/>
        </dgm:presLayoutVars>
      </dgm:prSet>
      <dgm:spPr/>
    </dgm:pt>
    <dgm:pt modelId="{C878BC90-6C8B-4E02-A788-C8B021302EF8}" type="pres">
      <dgm:prSet presAssocID="{B9D5209C-0088-4573-BB87-7D55FF36E770}" presName="sibTrans" presStyleCnt="0"/>
      <dgm:spPr/>
    </dgm:pt>
    <dgm:pt modelId="{515338F0-E64B-4C29-977D-25ACA3BDA710}" type="pres">
      <dgm:prSet presAssocID="{4FA6B33E-E974-4BB1-8D73-6D049FE7FE4E}" presName="node" presStyleLbl="node1" presStyleIdx="5" presStyleCnt="6">
        <dgm:presLayoutVars>
          <dgm:bulletEnabled val="1"/>
        </dgm:presLayoutVars>
      </dgm:prSet>
      <dgm:spPr/>
    </dgm:pt>
  </dgm:ptLst>
  <dgm:cxnLst>
    <dgm:cxn modelId="{3D50C807-2417-4542-8A6B-A35DE76FE93C}" type="presOf" srcId="{4FA6B33E-E974-4BB1-8D73-6D049FE7FE4E}" destId="{515338F0-E64B-4C29-977D-25ACA3BDA710}" srcOrd="0" destOrd="0" presId="urn:microsoft.com/office/officeart/2005/8/layout/default"/>
    <dgm:cxn modelId="{0EA2480F-15F2-49D7-B348-D2C64B3FDB10}" srcId="{EB06D1CB-B13D-43C0-99B6-773E4EC4B878}" destId="{4BDFEE15-9D3D-4712-8ABD-0DE936213566}" srcOrd="3" destOrd="0" parTransId="{91C4F596-3148-4459-ABB4-DFBB55E9CBE9}" sibTransId="{499478CF-E5C3-42CA-B0E8-0E5DA1F2FD75}"/>
    <dgm:cxn modelId="{A62A1311-9E53-40AC-8A2A-21FACA9359C0}" srcId="{EB06D1CB-B13D-43C0-99B6-773E4EC4B878}" destId="{46D527BB-D898-46B2-B685-64CD643924EB}" srcOrd="4" destOrd="0" parTransId="{5F22BA4E-2628-4B95-8470-71D8F20B7C4F}" sibTransId="{B9D5209C-0088-4573-BB87-7D55FF36E770}"/>
    <dgm:cxn modelId="{54C04516-4C30-488A-A61A-D31A45E61408}" type="presOf" srcId="{4BDFEE15-9D3D-4712-8ABD-0DE936213566}" destId="{32CBC352-C048-479E-8079-D6A58854E0FD}" srcOrd="0" destOrd="0" presId="urn:microsoft.com/office/officeart/2005/8/layout/default"/>
    <dgm:cxn modelId="{211F7554-4FA1-49D1-B4A1-9F48193435EC}" srcId="{EB06D1CB-B13D-43C0-99B6-773E4EC4B878}" destId="{4FA6B33E-E974-4BB1-8D73-6D049FE7FE4E}" srcOrd="5" destOrd="0" parTransId="{17FDBB6E-9029-4ECA-8A93-A99155437799}" sibTransId="{86D23552-9500-4D41-94CF-008E96D79070}"/>
    <dgm:cxn modelId="{AEC7877C-17E9-4AC1-8C81-8CBB6BE30D89}" type="presOf" srcId="{5DF0CC83-6DA9-480F-A84A-E0304E20E650}" destId="{28058A4D-DDFA-477E-8C27-F782D672C8A5}" srcOrd="0" destOrd="0" presId="urn:microsoft.com/office/officeart/2005/8/layout/default"/>
    <dgm:cxn modelId="{3314B189-ABAB-4020-B170-D6839F4B5954}" srcId="{EB06D1CB-B13D-43C0-99B6-773E4EC4B878}" destId="{DE248E03-62B9-4B4B-8A8E-41DB3B89011F}" srcOrd="2" destOrd="0" parTransId="{0498D3CC-F030-466E-BB42-B8F50D7DDF8E}" sibTransId="{8872AC19-CF37-4CB5-8F9A-ED561E1C0D9C}"/>
    <dgm:cxn modelId="{D831B68A-AB36-4E1A-91F3-13A3FF9942C5}" type="presOf" srcId="{EB06D1CB-B13D-43C0-99B6-773E4EC4B878}" destId="{AC86C554-9AEA-4669-91D8-D516C4593668}" srcOrd="0" destOrd="0" presId="urn:microsoft.com/office/officeart/2005/8/layout/default"/>
    <dgm:cxn modelId="{0044F590-0637-404D-88E3-71170EE2EBB3}" type="presOf" srcId="{DE248E03-62B9-4B4B-8A8E-41DB3B89011F}" destId="{15912A45-7941-4850-BCCB-2286372B408E}" srcOrd="0" destOrd="0" presId="urn:microsoft.com/office/officeart/2005/8/layout/default"/>
    <dgm:cxn modelId="{6B0D8DA3-B873-417E-B917-1EAB414FF5EC}" srcId="{EB06D1CB-B13D-43C0-99B6-773E4EC4B878}" destId="{BBA96B79-F070-4625-AA95-0E6B2989ECF2}" srcOrd="1" destOrd="0" parTransId="{D90AC4EE-6572-4327-B6F0-B330C755024F}" sibTransId="{85BEA1A5-9CB3-4B89-85DC-DFFED36913A1}"/>
    <dgm:cxn modelId="{5C9207CD-21FD-44FF-93CA-A0D8BE06C4A4}" type="presOf" srcId="{BBA96B79-F070-4625-AA95-0E6B2989ECF2}" destId="{C379BD4F-BF2C-4099-98A7-D1DC7F2B5DFD}" srcOrd="0" destOrd="0" presId="urn:microsoft.com/office/officeart/2005/8/layout/default"/>
    <dgm:cxn modelId="{D4FC84EE-0C38-44A5-B03F-6D101A89244E}" srcId="{EB06D1CB-B13D-43C0-99B6-773E4EC4B878}" destId="{5DF0CC83-6DA9-480F-A84A-E0304E20E650}" srcOrd="0" destOrd="0" parTransId="{18795BF6-5176-4E19-A17B-054FD815F6DD}" sibTransId="{E241324D-46DC-419B-A664-2AA3441AE4F2}"/>
    <dgm:cxn modelId="{31F702F5-A9F9-4466-84C2-D8D6634574E1}" type="presOf" srcId="{46D527BB-D898-46B2-B685-64CD643924EB}" destId="{CF3794B3-5D01-457F-92DD-BFC318A2D25B}" srcOrd="0" destOrd="0" presId="urn:microsoft.com/office/officeart/2005/8/layout/default"/>
    <dgm:cxn modelId="{888FD8EC-F9A0-4EAE-997F-23C3FA83104D}" type="presParOf" srcId="{AC86C554-9AEA-4669-91D8-D516C4593668}" destId="{28058A4D-DDFA-477E-8C27-F782D672C8A5}" srcOrd="0" destOrd="0" presId="urn:microsoft.com/office/officeart/2005/8/layout/default"/>
    <dgm:cxn modelId="{2301F6AA-8F55-4D85-8859-35782C6032B8}" type="presParOf" srcId="{AC86C554-9AEA-4669-91D8-D516C4593668}" destId="{CDC8C591-1C60-46E8-817C-64DBE04FF196}" srcOrd="1" destOrd="0" presId="urn:microsoft.com/office/officeart/2005/8/layout/default"/>
    <dgm:cxn modelId="{D3B844CA-0EB9-445C-B985-73F30C8E51AC}" type="presParOf" srcId="{AC86C554-9AEA-4669-91D8-D516C4593668}" destId="{C379BD4F-BF2C-4099-98A7-D1DC7F2B5DFD}" srcOrd="2" destOrd="0" presId="urn:microsoft.com/office/officeart/2005/8/layout/default"/>
    <dgm:cxn modelId="{2081DE27-13A6-464F-819A-E3BB11B1490B}" type="presParOf" srcId="{AC86C554-9AEA-4669-91D8-D516C4593668}" destId="{8EBAF087-96B3-48D8-9C56-B1A3A855BEA2}" srcOrd="3" destOrd="0" presId="urn:microsoft.com/office/officeart/2005/8/layout/default"/>
    <dgm:cxn modelId="{580A2B0B-6889-4352-86C8-E66F46DE11A2}" type="presParOf" srcId="{AC86C554-9AEA-4669-91D8-D516C4593668}" destId="{15912A45-7941-4850-BCCB-2286372B408E}" srcOrd="4" destOrd="0" presId="urn:microsoft.com/office/officeart/2005/8/layout/default"/>
    <dgm:cxn modelId="{76321EF2-EED0-40E2-BA46-FD68816198F5}" type="presParOf" srcId="{AC86C554-9AEA-4669-91D8-D516C4593668}" destId="{5B201848-2A12-4E5A-89AE-E960D320424C}" srcOrd="5" destOrd="0" presId="urn:microsoft.com/office/officeart/2005/8/layout/default"/>
    <dgm:cxn modelId="{7432F2A4-DF34-47E3-BD04-41DC5C1CD0B7}" type="presParOf" srcId="{AC86C554-9AEA-4669-91D8-D516C4593668}" destId="{32CBC352-C048-479E-8079-D6A58854E0FD}" srcOrd="6" destOrd="0" presId="urn:microsoft.com/office/officeart/2005/8/layout/default"/>
    <dgm:cxn modelId="{D7950756-FDA7-4E93-949E-9B163357EDA5}" type="presParOf" srcId="{AC86C554-9AEA-4669-91D8-D516C4593668}" destId="{1AC0D2E0-AF53-4D8F-B585-7ED088532563}" srcOrd="7" destOrd="0" presId="urn:microsoft.com/office/officeart/2005/8/layout/default"/>
    <dgm:cxn modelId="{385E6DE7-0E6E-458D-902E-CC485917E4E8}" type="presParOf" srcId="{AC86C554-9AEA-4669-91D8-D516C4593668}" destId="{CF3794B3-5D01-457F-92DD-BFC318A2D25B}" srcOrd="8" destOrd="0" presId="urn:microsoft.com/office/officeart/2005/8/layout/default"/>
    <dgm:cxn modelId="{361E5F17-63B1-4809-A7A4-1A3F3965110A}" type="presParOf" srcId="{AC86C554-9AEA-4669-91D8-D516C4593668}" destId="{C878BC90-6C8B-4E02-A788-C8B021302EF8}" srcOrd="9" destOrd="0" presId="urn:microsoft.com/office/officeart/2005/8/layout/default"/>
    <dgm:cxn modelId="{0C9A286A-BC52-4FB9-A961-8B5DCA56CDF7}" type="presParOf" srcId="{AC86C554-9AEA-4669-91D8-D516C4593668}" destId="{515338F0-E64B-4C29-977D-25ACA3BDA71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64FD3E-414D-4B0D-B6E1-4FF8B4C5D00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5D9E11-A332-4EFF-B5A0-46DCDDBC35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Cleaning and sanitation incurred more production time compared to equipment failures, which shows that process efficiency was the primary cause of the downtime compared to equipment reliability.</a:t>
          </a:r>
          <a:endParaRPr lang="en-US"/>
        </a:p>
      </dgm:t>
    </dgm:pt>
    <dgm:pt modelId="{784AA095-7B6C-44E2-B409-CF991481F561}" type="parTrans" cxnId="{D9FCFCE1-1403-43E4-8C1D-A2C3C40CED96}">
      <dgm:prSet/>
      <dgm:spPr/>
      <dgm:t>
        <a:bodyPr/>
        <a:lstStyle/>
        <a:p>
          <a:endParaRPr lang="en-US"/>
        </a:p>
      </dgm:t>
    </dgm:pt>
    <dgm:pt modelId="{8BC329DB-A855-4911-AF22-17C89BCEC9E0}" type="sibTrans" cxnId="{D9FCFCE1-1403-43E4-8C1D-A2C3C40CED96}">
      <dgm:prSet/>
      <dgm:spPr/>
      <dgm:t>
        <a:bodyPr/>
        <a:lstStyle/>
        <a:p>
          <a:endParaRPr lang="en-US"/>
        </a:p>
      </dgm:t>
    </dgm:pt>
    <dgm:pt modelId="{F1625FDB-8DBA-4374-A7C7-95BB54692C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Nearly 100 hours of downtime are linked to planning and supply-chain-related issues rather than production equipment failures.</a:t>
          </a:r>
          <a:endParaRPr lang="en-US"/>
        </a:p>
      </dgm:t>
    </dgm:pt>
    <dgm:pt modelId="{7104FB82-EC40-4441-ADE8-5F6300C81193}" type="parTrans" cxnId="{71EA1168-D7E2-4EB8-9E5E-660ABDAF5903}">
      <dgm:prSet/>
      <dgm:spPr/>
      <dgm:t>
        <a:bodyPr/>
        <a:lstStyle/>
        <a:p>
          <a:endParaRPr lang="en-US"/>
        </a:p>
      </dgm:t>
    </dgm:pt>
    <dgm:pt modelId="{37A90463-98FD-422D-A728-2BABF2C92C52}" type="sibTrans" cxnId="{71EA1168-D7E2-4EB8-9E5E-660ABDAF5903}">
      <dgm:prSet/>
      <dgm:spPr/>
      <dgm:t>
        <a:bodyPr/>
        <a:lstStyle/>
        <a:p>
          <a:endParaRPr lang="en-US"/>
        </a:p>
      </dgm:t>
    </dgm:pt>
    <dgm:pt modelId="{80A2AA5D-1EFA-423A-91A5-C3050CE3B262}" type="pres">
      <dgm:prSet presAssocID="{EB64FD3E-414D-4B0D-B6E1-4FF8B4C5D009}" presName="root" presStyleCnt="0">
        <dgm:presLayoutVars>
          <dgm:dir/>
          <dgm:resizeHandles val="exact"/>
        </dgm:presLayoutVars>
      </dgm:prSet>
      <dgm:spPr/>
    </dgm:pt>
    <dgm:pt modelId="{6C797BAD-70E3-480F-A21D-1657ECF0C8EC}" type="pres">
      <dgm:prSet presAssocID="{145D9E11-A332-4EFF-B5A0-46DCDDBC3581}" presName="compNode" presStyleCnt="0"/>
      <dgm:spPr/>
    </dgm:pt>
    <dgm:pt modelId="{55E57634-957B-47B9-B34A-AD61978ABC87}" type="pres">
      <dgm:prSet presAssocID="{145D9E11-A332-4EFF-B5A0-46DCDDBC3581}" presName="bgRect" presStyleLbl="bgShp" presStyleIdx="0" presStyleCnt="2"/>
      <dgm:spPr/>
    </dgm:pt>
    <dgm:pt modelId="{7341E033-0BB0-46F5-91F5-BFE0B277C9B3}" type="pres">
      <dgm:prSet presAssocID="{145D9E11-A332-4EFF-B5A0-46DCDDBC358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dozer"/>
        </a:ext>
      </dgm:extLst>
    </dgm:pt>
    <dgm:pt modelId="{7DCAACF2-74D9-4A92-A1EA-E7F177B6A4E6}" type="pres">
      <dgm:prSet presAssocID="{145D9E11-A332-4EFF-B5A0-46DCDDBC3581}" presName="spaceRect" presStyleCnt="0"/>
      <dgm:spPr/>
    </dgm:pt>
    <dgm:pt modelId="{41C6785F-C87E-43D7-837F-7F9E7524968C}" type="pres">
      <dgm:prSet presAssocID="{145D9E11-A332-4EFF-B5A0-46DCDDBC3581}" presName="parTx" presStyleLbl="revTx" presStyleIdx="0" presStyleCnt="2">
        <dgm:presLayoutVars>
          <dgm:chMax val="0"/>
          <dgm:chPref val="0"/>
        </dgm:presLayoutVars>
      </dgm:prSet>
      <dgm:spPr/>
    </dgm:pt>
    <dgm:pt modelId="{43D679EB-7AFC-4217-8A54-5C4D32A68AE6}" type="pres">
      <dgm:prSet presAssocID="{8BC329DB-A855-4911-AF22-17C89BCEC9E0}" presName="sibTrans" presStyleCnt="0"/>
      <dgm:spPr/>
    </dgm:pt>
    <dgm:pt modelId="{1A1123B0-0ACA-4212-B855-8C3CB13C9648}" type="pres">
      <dgm:prSet presAssocID="{F1625FDB-8DBA-4374-A7C7-95BB54692C54}" presName="compNode" presStyleCnt="0"/>
      <dgm:spPr/>
    </dgm:pt>
    <dgm:pt modelId="{21BE6D3A-0939-474C-A7ED-5F1559E4CA91}" type="pres">
      <dgm:prSet presAssocID="{F1625FDB-8DBA-4374-A7C7-95BB54692C54}" presName="bgRect" presStyleLbl="bgShp" presStyleIdx="1" presStyleCnt="2"/>
      <dgm:spPr/>
    </dgm:pt>
    <dgm:pt modelId="{5E72EBBD-F2F4-4B16-9EE7-86B383E2B9EC}" type="pres">
      <dgm:prSet presAssocID="{F1625FDB-8DBA-4374-A7C7-95BB54692C5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F1ED415-79F6-438F-AE5F-677E15DA58FC}" type="pres">
      <dgm:prSet presAssocID="{F1625FDB-8DBA-4374-A7C7-95BB54692C54}" presName="spaceRect" presStyleCnt="0"/>
      <dgm:spPr/>
    </dgm:pt>
    <dgm:pt modelId="{7423158F-AE89-4548-BB5F-A58EBFACF425}" type="pres">
      <dgm:prSet presAssocID="{F1625FDB-8DBA-4374-A7C7-95BB54692C5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FD49A38-5AA3-417C-BDA2-1AF6B3B5F450}" type="presOf" srcId="{F1625FDB-8DBA-4374-A7C7-95BB54692C54}" destId="{7423158F-AE89-4548-BB5F-A58EBFACF425}" srcOrd="0" destOrd="0" presId="urn:microsoft.com/office/officeart/2018/2/layout/IconVerticalSolidList"/>
    <dgm:cxn modelId="{71EA1168-D7E2-4EB8-9E5E-660ABDAF5903}" srcId="{EB64FD3E-414D-4B0D-B6E1-4FF8B4C5D009}" destId="{F1625FDB-8DBA-4374-A7C7-95BB54692C54}" srcOrd="1" destOrd="0" parTransId="{7104FB82-EC40-4441-ADE8-5F6300C81193}" sibTransId="{37A90463-98FD-422D-A728-2BABF2C92C52}"/>
    <dgm:cxn modelId="{91020DAC-09AC-4512-8E8D-60B6A0F10374}" type="presOf" srcId="{145D9E11-A332-4EFF-B5A0-46DCDDBC3581}" destId="{41C6785F-C87E-43D7-837F-7F9E7524968C}" srcOrd="0" destOrd="0" presId="urn:microsoft.com/office/officeart/2018/2/layout/IconVerticalSolidList"/>
    <dgm:cxn modelId="{D9FCFCE1-1403-43E4-8C1D-A2C3C40CED96}" srcId="{EB64FD3E-414D-4B0D-B6E1-4FF8B4C5D009}" destId="{145D9E11-A332-4EFF-B5A0-46DCDDBC3581}" srcOrd="0" destOrd="0" parTransId="{784AA095-7B6C-44E2-B409-CF991481F561}" sibTransId="{8BC329DB-A855-4911-AF22-17C89BCEC9E0}"/>
    <dgm:cxn modelId="{8877F1E9-25AE-45A1-A0A6-8F680939A681}" type="presOf" srcId="{EB64FD3E-414D-4B0D-B6E1-4FF8B4C5D009}" destId="{80A2AA5D-1EFA-423A-91A5-C3050CE3B262}" srcOrd="0" destOrd="0" presId="urn:microsoft.com/office/officeart/2018/2/layout/IconVerticalSolidList"/>
    <dgm:cxn modelId="{121531D5-C689-4E18-896F-EF5C0074E7C5}" type="presParOf" srcId="{80A2AA5D-1EFA-423A-91A5-C3050CE3B262}" destId="{6C797BAD-70E3-480F-A21D-1657ECF0C8EC}" srcOrd="0" destOrd="0" presId="urn:microsoft.com/office/officeart/2018/2/layout/IconVerticalSolidList"/>
    <dgm:cxn modelId="{880EA718-9830-4067-828E-A4A7D5C8A404}" type="presParOf" srcId="{6C797BAD-70E3-480F-A21D-1657ECF0C8EC}" destId="{55E57634-957B-47B9-B34A-AD61978ABC87}" srcOrd="0" destOrd="0" presId="urn:microsoft.com/office/officeart/2018/2/layout/IconVerticalSolidList"/>
    <dgm:cxn modelId="{802FB556-428D-4621-879D-EF7A3953F09C}" type="presParOf" srcId="{6C797BAD-70E3-480F-A21D-1657ECF0C8EC}" destId="{7341E033-0BB0-46F5-91F5-BFE0B277C9B3}" srcOrd="1" destOrd="0" presId="urn:microsoft.com/office/officeart/2018/2/layout/IconVerticalSolidList"/>
    <dgm:cxn modelId="{E35F7F18-A2DE-40CB-B997-DCB9306FC307}" type="presParOf" srcId="{6C797BAD-70E3-480F-A21D-1657ECF0C8EC}" destId="{7DCAACF2-74D9-4A92-A1EA-E7F177B6A4E6}" srcOrd="2" destOrd="0" presId="urn:microsoft.com/office/officeart/2018/2/layout/IconVerticalSolidList"/>
    <dgm:cxn modelId="{E512F61F-87A5-4785-90F0-22B0B63D160D}" type="presParOf" srcId="{6C797BAD-70E3-480F-A21D-1657ECF0C8EC}" destId="{41C6785F-C87E-43D7-837F-7F9E7524968C}" srcOrd="3" destOrd="0" presId="urn:microsoft.com/office/officeart/2018/2/layout/IconVerticalSolidList"/>
    <dgm:cxn modelId="{2861F7D1-9C13-4144-855B-464F5398127C}" type="presParOf" srcId="{80A2AA5D-1EFA-423A-91A5-C3050CE3B262}" destId="{43D679EB-7AFC-4217-8A54-5C4D32A68AE6}" srcOrd="1" destOrd="0" presId="urn:microsoft.com/office/officeart/2018/2/layout/IconVerticalSolidList"/>
    <dgm:cxn modelId="{4EC096E4-E25B-418B-8FCD-6D35DB57B567}" type="presParOf" srcId="{80A2AA5D-1EFA-423A-91A5-C3050CE3B262}" destId="{1A1123B0-0ACA-4212-B855-8C3CB13C9648}" srcOrd="2" destOrd="0" presId="urn:microsoft.com/office/officeart/2018/2/layout/IconVerticalSolidList"/>
    <dgm:cxn modelId="{55532D80-B4E0-4378-9A05-21725B5AE1CC}" type="presParOf" srcId="{1A1123B0-0ACA-4212-B855-8C3CB13C9648}" destId="{21BE6D3A-0939-474C-A7ED-5F1559E4CA91}" srcOrd="0" destOrd="0" presId="urn:microsoft.com/office/officeart/2018/2/layout/IconVerticalSolidList"/>
    <dgm:cxn modelId="{6C1260B2-70D0-4917-A087-3E1B8442B6AA}" type="presParOf" srcId="{1A1123B0-0ACA-4212-B855-8C3CB13C9648}" destId="{5E72EBBD-F2F4-4B16-9EE7-86B383E2B9EC}" srcOrd="1" destOrd="0" presId="urn:microsoft.com/office/officeart/2018/2/layout/IconVerticalSolidList"/>
    <dgm:cxn modelId="{3296FA57-0465-46B3-B528-9B6D77DC801F}" type="presParOf" srcId="{1A1123B0-0ACA-4212-B855-8C3CB13C9648}" destId="{7F1ED415-79F6-438F-AE5F-677E15DA58FC}" srcOrd="2" destOrd="0" presId="urn:microsoft.com/office/officeart/2018/2/layout/IconVerticalSolidList"/>
    <dgm:cxn modelId="{C2ADDD2B-EAFE-41DA-AC1B-54DD8A717A81}" type="presParOf" srcId="{1A1123B0-0ACA-4212-B855-8C3CB13C9648}" destId="{7423158F-AE89-4548-BB5F-A58EBFACF4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DDCFF5-4B79-4D93-B5A1-71134DC2AE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91D1952-AC2F-4125-BFDE-9127BFB2C5FC}">
      <dgm:prSet/>
      <dgm:spPr/>
      <dgm:t>
        <a:bodyPr/>
        <a:lstStyle/>
        <a:p>
          <a:r>
            <a:rPr lang="en-GB" dirty="0"/>
            <a:t>Reduced downtime, lower operational costs, and improved production efficiency. </a:t>
          </a:r>
          <a:endParaRPr lang="en-US" dirty="0"/>
        </a:p>
      </dgm:t>
    </dgm:pt>
    <dgm:pt modelId="{180C461C-CEF0-43FF-8A88-BFF6A7EF78FD}" type="parTrans" cxnId="{BFB312C6-48CF-449D-BDD2-4F03D2265614}">
      <dgm:prSet/>
      <dgm:spPr/>
      <dgm:t>
        <a:bodyPr/>
        <a:lstStyle/>
        <a:p>
          <a:endParaRPr lang="en-US"/>
        </a:p>
      </dgm:t>
    </dgm:pt>
    <dgm:pt modelId="{C6A1473B-0E75-4C88-8101-3A082CFD37D3}" type="sibTrans" cxnId="{BFB312C6-48CF-449D-BDD2-4F03D2265614}">
      <dgm:prSet/>
      <dgm:spPr/>
      <dgm:t>
        <a:bodyPr/>
        <a:lstStyle/>
        <a:p>
          <a:endParaRPr lang="en-US"/>
        </a:p>
      </dgm:t>
    </dgm:pt>
    <dgm:pt modelId="{A9E0921A-40B3-4203-AD06-1D66FA71C251}">
      <dgm:prSet/>
      <dgm:spPr/>
      <dgm:t>
        <a:bodyPr/>
        <a:lstStyle/>
        <a:p>
          <a:r>
            <a:rPr lang="en-GB"/>
            <a:t>Increased on-time delivery performance and enhanced customer satisfaction.</a:t>
          </a:r>
          <a:endParaRPr lang="en-US"/>
        </a:p>
      </dgm:t>
    </dgm:pt>
    <dgm:pt modelId="{D9E0DA48-F805-442C-A04D-C84B18D5D445}" type="parTrans" cxnId="{7708CC37-B55E-4A78-AE4A-DA375A174544}">
      <dgm:prSet/>
      <dgm:spPr/>
      <dgm:t>
        <a:bodyPr/>
        <a:lstStyle/>
        <a:p>
          <a:endParaRPr lang="en-US"/>
        </a:p>
      </dgm:t>
    </dgm:pt>
    <dgm:pt modelId="{DF12B4A7-BBDF-413E-A183-C7A666694D1D}" type="sibTrans" cxnId="{7708CC37-B55E-4A78-AE4A-DA375A174544}">
      <dgm:prSet/>
      <dgm:spPr/>
      <dgm:t>
        <a:bodyPr/>
        <a:lstStyle/>
        <a:p>
          <a:endParaRPr lang="en-US"/>
        </a:p>
      </dgm:t>
    </dgm:pt>
    <dgm:pt modelId="{6B549CF5-30E6-41E7-A08B-D63F226138E7}" type="pres">
      <dgm:prSet presAssocID="{FADDCFF5-4B79-4D93-B5A1-71134DC2AE5E}" presName="root" presStyleCnt="0">
        <dgm:presLayoutVars>
          <dgm:dir/>
          <dgm:resizeHandles val="exact"/>
        </dgm:presLayoutVars>
      </dgm:prSet>
      <dgm:spPr/>
    </dgm:pt>
    <dgm:pt modelId="{1D809624-BCE3-4ECE-867D-EA9F7F57C8A1}" type="pres">
      <dgm:prSet presAssocID="{691D1952-AC2F-4125-BFDE-9127BFB2C5FC}" presName="compNode" presStyleCnt="0"/>
      <dgm:spPr/>
    </dgm:pt>
    <dgm:pt modelId="{BD8DE4DB-6B9C-46FE-BD4E-FA23F565403A}" type="pres">
      <dgm:prSet presAssocID="{691D1952-AC2F-4125-BFDE-9127BFB2C5FC}" presName="bgRect" presStyleLbl="bgShp" presStyleIdx="0" presStyleCnt="2"/>
      <dgm:spPr/>
    </dgm:pt>
    <dgm:pt modelId="{D92EDCC2-21FF-4E53-9EAD-DED11479B012}" type="pres">
      <dgm:prSet presAssocID="{691D1952-AC2F-4125-BFDE-9127BFB2C5F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418A482-D4E2-428B-A743-2F0EEC0A2FAB}" type="pres">
      <dgm:prSet presAssocID="{691D1952-AC2F-4125-BFDE-9127BFB2C5FC}" presName="spaceRect" presStyleCnt="0"/>
      <dgm:spPr/>
    </dgm:pt>
    <dgm:pt modelId="{554DD1C3-0514-4520-A658-C196113A3ADC}" type="pres">
      <dgm:prSet presAssocID="{691D1952-AC2F-4125-BFDE-9127BFB2C5FC}" presName="parTx" presStyleLbl="revTx" presStyleIdx="0" presStyleCnt="2">
        <dgm:presLayoutVars>
          <dgm:chMax val="0"/>
          <dgm:chPref val="0"/>
        </dgm:presLayoutVars>
      </dgm:prSet>
      <dgm:spPr/>
    </dgm:pt>
    <dgm:pt modelId="{989AA5E8-C537-4EB2-9294-6719BCC3C757}" type="pres">
      <dgm:prSet presAssocID="{C6A1473B-0E75-4C88-8101-3A082CFD37D3}" presName="sibTrans" presStyleCnt="0"/>
      <dgm:spPr/>
    </dgm:pt>
    <dgm:pt modelId="{3606B431-9ECA-470B-85FC-0AF51405DB5B}" type="pres">
      <dgm:prSet presAssocID="{A9E0921A-40B3-4203-AD06-1D66FA71C251}" presName="compNode" presStyleCnt="0"/>
      <dgm:spPr/>
    </dgm:pt>
    <dgm:pt modelId="{66DE04CF-EEC1-4694-8DA4-C4512BB049A5}" type="pres">
      <dgm:prSet presAssocID="{A9E0921A-40B3-4203-AD06-1D66FA71C251}" presName="bgRect" presStyleLbl="bgShp" presStyleIdx="1" presStyleCnt="2"/>
      <dgm:spPr/>
    </dgm:pt>
    <dgm:pt modelId="{5E235A45-9A10-4EA4-A86E-2BCACE051908}" type="pres">
      <dgm:prSet presAssocID="{A9E0921A-40B3-4203-AD06-1D66FA71C25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92ED664-344A-457A-BE59-88A6D845BCAA}" type="pres">
      <dgm:prSet presAssocID="{A9E0921A-40B3-4203-AD06-1D66FA71C251}" presName="spaceRect" presStyleCnt="0"/>
      <dgm:spPr/>
    </dgm:pt>
    <dgm:pt modelId="{E77CE0EC-09DB-42AC-A9CC-5DBBAFCC847D}" type="pres">
      <dgm:prSet presAssocID="{A9E0921A-40B3-4203-AD06-1D66FA71C25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1E17D23-BE3B-47E8-8D9D-4A23F030D9EE}" type="presOf" srcId="{FADDCFF5-4B79-4D93-B5A1-71134DC2AE5E}" destId="{6B549CF5-30E6-41E7-A08B-D63F226138E7}" srcOrd="0" destOrd="0" presId="urn:microsoft.com/office/officeart/2018/2/layout/IconVerticalSolidList"/>
    <dgm:cxn modelId="{7708CC37-B55E-4A78-AE4A-DA375A174544}" srcId="{FADDCFF5-4B79-4D93-B5A1-71134DC2AE5E}" destId="{A9E0921A-40B3-4203-AD06-1D66FA71C251}" srcOrd="1" destOrd="0" parTransId="{D9E0DA48-F805-442C-A04D-C84B18D5D445}" sibTransId="{DF12B4A7-BBDF-413E-A183-C7A666694D1D}"/>
    <dgm:cxn modelId="{C518FE44-0537-4A81-B750-A7E01FAFE36A}" type="presOf" srcId="{A9E0921A-40B3-4203-AD06-1D66FA71C251}" destId="{E77CE0EC-09DB-42AC-A9CC-5DBBAFCC847D}" srcOrd="0" destOrd="0" presId="urn:microsoft.com/office/officeart/2018/2/layout/IconVerticalSolidList"/>
    <dgm:cxn modelId="{A0E13E83-441F-4D6C-A626-6B96D6FB1382}" type="presOf" srcId="{691D1952-AC2F-4125-BFDE-9127BFB2C5FC}" destId="{554DD1C3-0514-4520-A658-C196113A3ADC}" srcOrd="0" destOrd="0" presId="urn:microsoft.com/office/officeart/2018/2/layout/IconVerticalSolidList"/>
    <dgm:cxn modelId="{BFB312C6-48CF-449D-BDD2-4F03D2265614}" srcId="{FADDCFF5-4B79-4D93-B5A1-71134DC2AE5E}" destId="{691D1952-AC2F-4125-BFDE-9127BFB2C5FC}" srcOrd="0" destOrd="0" parTransId="{180C461C-CEF0-43FF-8A88-BFF6A7EF78FD}" sibTransId="{C6A1473B-0E75-4C88-8101-3A082CFD37D3}"/>
    <dgm:cxn modelId="{06C097F7-885E-4B7A-9BC7-8FB9F3EA97E6}" type="presParOf" srcId="{6B549CF5-30E6-41E7-A08B-D63F226138E7}" destId="{1D809624-BCE3-4ECE-867D-EA9F7F57C8A1}" srcOrd="0" destOrd="0" presId="urn:microsoft.com/office/officeart/2018/2/layout/IconVerticalSolidList"/>
    <dgm:cxn modelId="{5D30BA4D-5783-47A4-BFB3-D5F8596D9180}" type="presParOf" srcId="{1D809624-BCE3-4ECE-867D-EA9F7F57C8A1}" destId="{BD8DE4DB-6B9C-46FE-BD4E-FA23F565403A}" srcOrd="0" destOrd="0" presId="urn:microsoft.com/office/officeart/2018/2/layout/IconVerticalSolidList"/>
    <dgm:cxn modelId="{0747A398-D858-4C64-8635-0B063B7AB840}" type="presParOf" srcId="{1D809624-BCE3-4ECE-867D-EA9F7F57C8A1}" destId="{D92EDCC2-21FF-4E53-9EAD-DED11479B012}" srcOrd="1" destOrd="0" presId="urn:microsoft.com/office/officeart/2018/2/layout/IconVerticalSolidList"/>
    <dgm:cxn modelId="{AD0490D0-7BAE-4CD4-BE77-90AE865B7C91}" type="presParOf" srcId="{1D809624-BCE3-4ECE-867D-EA9F7F57C8A1}" destId="{C418A482-D4E2-428B-A743-2F0EEC0A2FAB}" srcOrd="2" destOrd="0" presId="urn:microsoft.com/office/officeart/2018/2/layout/IconVerticalSolidList"/>
    <dgm:cxn modelId="{AFB94E88-D043-4E9E-AE22-DA170342743E}" type="presParOf" srcId="{1D809624-BCE3-4ECE-867D-EA9F7F57C8A1}" destId="{554DD1C3-0514-4520-A658-C196113A3ADC}" srcOrd="3" destOrd="0" presId="urn:microsoft.com/office/officeart/2018/2/layout/IconVerticalSolidList"/>
    <dgm:cxn modelId="{99A40644-C4C0-471A-921F-006DC7DD1BA4}" type="presParOf" srcId="{6B549CF5-30E6-41E7-A08B-D63F226138E7}" destId="{989AA5E8-C537-4EB2-9294-6719BCC3C757}" srcOrd="1" destOrd="0" presId="urn:microsoft.com/office/officeart/2018/2/layout/IconVerticalSolidList"/>
    <dgm:cxn modelId="{7B0D753D-7B10-46DF-95CC-4065E9EE66E8}" type="presParOf" srcId="{6B549CF5-30E6-41E7-A08B-D63F226138E7}" destId="{3606B431-9ECA-470B-85FC-0AF51405DB5B}" srcOrd="2" destOrd="0" presId="urn:microsoft.com/office/officeart/2018/2/layout/IconVerticalSolidList"/>
    <dgm:cxn modelId="{000FC62B-CFC3-486E-881B-B0071D97C630}" type="presParOf" srcId="{3606B431-9ECA-470B-85FC-0AF51405DB5B}" destId="{66DE04CF-EEC1-4694-8DA4-C4512BB049A5}" srcOrd="0" destOrd="0" presId="urn:microsoft.com/office/officeart/2018/2/layout/IconVerticalSolidList"/>
    <dgm:cxn modelId="{1348AD4D-AC1C-40B0-8E55-6883D6930BED}" type="presParOf" srcId="{3606B431-9ECA-470B-85FC-0AF51405DB5B}" destId="{5E235A45-9A10-4EA4-A86E-2BCACE051908}" srcOrd="1" destOrd="0" presId="urn:microsoft.com/office/officeart/2018/2/layout/IconVerticalSolidList"/>
    <dgm:cxn modelId="{DC632079-230D-472A-A9D3-1B1832A260C4}" type="presParOf" srcId="{3606B431-9ECA-470B-85FC-0AF51405DB5B}" destId="{992ED664-344A-457A-BE59-88A6D845BCAA}" srcOrd="2" destOrd="0" presId="urn:microsoft.com/office/officeart/2018/2/layout/IconVerticalSolidList"/>
    <dgm:cxn modelId="{AEE1511E-B7BE-4833-9517-7E4F6307C5D8}" type="presParOf" srcId="{3606B431-9ECA-470B-85FC-0AF51405DB5B}" destId="{E77CE0EC-09DB-42AC-A9CC-5DBBAFCC84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58A4D-DDFA-477E-8C27-F782D672C8A5}">
      <dsp:nvSpPr>
        <dsp:cNvPr id="0" name=""/>
        <dsp:cNvSpPr/>
      </dsp:nvSpPr>
      <dsp:spPr>
        <a:xfrm>
          <a:off x="0" y="394696"/>
          <a:ext cx="2313905" cy="13883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645 Batches processed</a:t>
          </a:r>
          <a:endParaRPr lang="en-GB" sz="2800" kern="1200" dirty="0"/>
        </a:p>
      </dsp:txBody>
      <dsp:txXfrm>
        <a:off x="0" y="394696"/>
        <a:ext cx="2313905" cy="1388343"/>
      </dsp:txXfrm>
    </dsp:sp>
    <dsp:sp modelId="{C379BD4F-BF2C-4099-98A7-D1DC7F2B5DFD}">
      <dsp:nvSpPr>
        <dsp:cNvPr id="0" name=""/>
        <dsp:cNvSpPr/>
      </dsp:nvSpPr>
      <dsp:spPr>
        <a:xfrm>
          <a:off x="2545295" y="394696"/>
          <a:ext cx="2313905" cy="13883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363 Delayed Batches</a:t>
          </a:r>
          <a:endParaRPr lang="en-GB" sz="2800" kern="1200" dirty="0"/>
        </a:p>
      </dsp:txBody>
      <dsp:txXfrm>
        <a:off x="2545295" y="394696"/>
        <a:ext cx="2313905" cy="1388343"/>
      </dsp:txXfrm>
    </dsp:sp>
    <dsp:sp modelId="{15912A45-7941-4850-BCCB-2286372B408E}">
      <dsp:nvSpPr>
        <dsp:cNvPr id="0" name=""/>
        <dsp:cNvSpPr/>
      </dsp:nvSpPr>
      <dsp:spPr>
        <a:xfrm>
          <a:off x="5090591" y="394696"/>
          <a:ext cx="2313905" cy="13883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885 Downtime Factors</a:t>
          </a:r>
          <a:endParaRPr lang="en-GB" sz="2800" kern="1200" dirty="0"/>
        </a:p>
      </dsp:txBody>
      <dsp:txXfrm>
        <a:off x="5090591" y="394696"/>
        <a:ext cx="2313905" cy="1388343"/>
      </dsp:txXfrm>
    </dsp:sp>
    <dsp:sp modelId="{32CBC352-C048-479E-8079-D6A58854E0FD}">
      <dsp:nvSpPr>
        <dsp:cNvPr id="0" name=""/>
        <dsp:cNvSpPr/>
      </dsp:nvSpPr>
      <dsp:spPr>
        <a:xfrm>
          <a:off x="0" y="2014430"/>
          <a:ext cx="2313905" cy="13883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21.74 Days Lost</a:t>
          </a:r>
          <a:endParaRPr lang="en-GB" sz="2800" kern="1200" dirty="0">
            <a:solidFill>
              <a:schemeClr val="tx1"/>
            </a:solidFill>
          </a:endParaRPr>
        </a:p>
      </dsp:txBody>
      <dsp:txXfrm>
        <a:off x="0" y="2014430"/>
        <a:ext cx="2313905" cy="1388343"/>
      </dsp:txXfrm>
    </dsp:sp>
    <dsp:sp modelId="{CF3794B3-5D01-457F-92DD-BFC318A2D25B}">
      <dsp:nvSpPr>
        <dsp:cNvPr id="0" name=""/>
        <dsp:cNvSpPr/>
      </dsp:nvSpPr>
      <dsp:spPr>
        <a:xfrm>
          <a:off x="2545295" y="2014430"/>
          <a:ext cx="2313905" cy="13883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13 Distinct Factors</a:t>
          </a:r>
          <a:endParaRPr lang="en-GB" sz="2800" kern="1200"/>
        </a:p>
      </dsp:txBody>
      <dsp:txXfrm>
        <a:off x="2545295" y="2014430"/>
        <a:ext cx="2313905" cy="1388343"/>
      </dsp:txXfrm>
    </dsp:sp>
    <dsp:sp modelId="{515338F0-E64B-4C29-977D-25ACA3BDA710}">
      <dsp:nvSpPr>
        <dsp:cNvPr id="0" name=""/>
        <dsp:cNvSpPr/>
      </dsp:nvSpPr>
      <dsp:spPr>
        <a:xfrm>
          <a:off x="5090591" y="2014430"/>
          <a:ext cx="2313905" cy="13883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Max 4 Downtimes per Batch</a:t>
          </a:r>
          <a:endParaRPr lang="en-GB" sz="2800" kern="1200" dirty="0"/>
        </a:p>
      </dsp:txBody>
      <dsp:txXfrm>
        <a:off x="5090591" y="2014430"/>
        <a:ext cx="2313905" cy="13883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57634-957B-47B9-B34A-AD61978ABC87}">
      <dsp:nvSpPr>
        <dsp:cNvPr id="0" name=""/>
        <dsp:cNvSpPr/>
      </dsp:nvSpPr>
      <dsp:spPr>
        <a:xfrm>
          <a:off x="0" y="856"/>
          <a:ext cx="7945621" cy="812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1E033-0BB0-46F5-91F5-BFE0B277C9B3}">
      <dsp:nvSpPr>
        <dsp:cNvPr id="0" name=""/>
        <dsp:cNvSpPr/>
      </dsp:nvSpPr>
      <dsp:spPr>
        <a:xfrm>
          <a:off x="245803" y="183685"/>
          <a:ext cx="446916" cy="446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6785F-C87E-43D7-837F-7F9E7524968C}">
      <dsp:nvSpPr>
        <dsp:cNvPr id="0" name=""/>
        <dsp:cNvSpPr/>
      </dsp:nvSpPr>
      <dsp:spPr>
        <a:xfrm>
          <a:off x="938524" y="856"/>
          <a:ext cx="6992680" cy="81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998" tIns="85998" rIns="85998" bIns="8599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Cleaning and sanitation incurred more production time compared to equipment failures, which shows that process efficiency was the primary cause of the downtime compared to equipment reliability.</a:t>
          </a:r>
          <a:endParaRPr lang="en-US" sz="1400" kern="1200"/>
        </a:p>
      </dsp:txBody>
      <dsp:txXfrm>
        <a:off x="938524" y="856"/>
        <a:ext cx="6992680" cy="812575"/>
      </dsp:txXfrm>
    </dsp:sp>
    <dsp:sp modelId="{21BE6D3A-0939-474C-A7ED-5F1559E4CA91}">
      <dsp:nvSpPr>
        <dsp:cNvPr id="0" name=""/>
        <dsp:cNvSpPr/>
      </dsp:nvSpPr>
      <dsp:spPr>
        <a:xfrm>
          <a:off x="0" y="940894"/>
          <a:ext cx="7945621" cy="812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72EBBD-F2F4-4B16-9EE7-86B383E2B9EC}">
      <dsp:nvSpPr>
        <dsp:cNvPr id="0" name=""/>
        <dsp:cNvSpPr/>
      </dsp:nvSpPr>
      <dsp:spPr>
        <a:xfrm>
          <a:off x="245803" y="1123723"/>
          <a:ext cx="446916" cy="446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3158F-AE89-4548-BB5F-A58EBFACF425}">
      <dsp:nvSpPr>
        <dsp:cNvPr id="0" name=""/>
        <dsp:cNvSpPr/>
      </dsp:nvSpPr>
      <dsp:spPr>
        <a:xfrm>
          <a:off x="938524" y="940894"/>
          <a:ext cx="6992680" cy="8125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998" tIns="85998" rIns="85998" bIns="8599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Nearly 100 hours of downtime are linked to planning and supply-chain-related issues rather than production equipment failures.</a:t>
          </a:r>
          <a:endParaRPr lang="en-US" sz="1400" kern="1200"/>
        </a:p>
      </dsp:txBody>
      <dsp:txXfrm>
        <a:off x="938524" y="940894"/>
        <a:ext cx="6992680" cy="8125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DE4DB-6B9C-46FE-BD4E-FA23F565403A}">
      <dsp:nvSpPr>
        <dsp:cNvPr id="0" name=""/>
        <dsp:cNvSpPr/>
      </dsp:nvSpPr>
      <dsp:spPr>
        <a:xfrm>
          <a:off x="0" y="671131"/>
          <a:ext cx="8101925" cy="12390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EDCC2-21FF-4E53-9EAD-DED11479B012}">
      <dsp:nvSpPr>
        <dsp:cNvPr id="0" name=""/>
        <dsp:cNvSpPr/>
      </dsp:nvSpPr>
      <dsp:spPr>
        <a:xfrm>
          <a:off x="374801" y="949909"/>
          <a:ext cx="681456" cy="6814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DD1C3-0514-4520-A658-C196113A3ADC}">
      <dsp:nvSpPr>
        <dsp:cNvPr id="0" name=""/>
        <dsp:cNvSpPr/>
      </dsp:nvSpPr>
      <dsp:spPr>
        <a:xfrm>
          <a:off x="1431058" y="671131"/>
          <a:ext cx="6670866" cy="123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29" tIns="131129" rIns="131129" bIns="1311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Reduced downtime, lower operational costs, and improved production efficiency. </a:t>
          </a:r>
          <a:endParaRPr lang="en-US" sz="2500" kern="1200" dirty="0"/>
        </a:p>
      </dsp:txBody>
      <dsp:txXfrm>
        <a:off x="1431058" y="671131"/>
        <a:ext cx="6670866" cy="1239012"/>
      </dsp:txXfrm>
    </dsp:sp>
    <dsp:sp modelId="{66DE04CF-EEC1-4694-8DA4-C4512BB049A5}">
      <dsp:nvSpPr>
        <dsp:cNvPr id="0" name=""/>
        <dsp:cNvSpPr/>
      </dsp:nvSpPr>
      <dsp:spPr>
        <a:xfrm>
          <a:off x="0" y="2219896"/>
          <a:ext cx="8101925" cy="12390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35A45-9A10-4EA4-A86E-2BCACE051908}">
      <dsp:nvSpPr>
        <dsp:cNvPr id="0" name=""/>
        <dsp:cNvSpPr/>
      </dsp:nvSpPr>
      <dsp:spPr>
        <a:xfrm>
          <a:off x="374801" y="2498674"/>
          <a:ext cx="681456" cy="6814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CE0EC-09DB-42AC-A9CC-5DBBAFCC847D}">
      <dsp:nvSpPr>
        <dsp:cNvPr id="0" name=""/>
        <dsp:cNvSpPr/>
      </dsp:nvSpPr>
      <dsp:spPr>
        <a:xfrm>
          <a:off x="1431058" y="2219896"/>
          <a:ext cx="6670866" cy="1239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29" tIns="131129" rIns="131129" bIns="13112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Increased on-time delivery performance and enhanced customer satisfaction.</a:t>
          </a:r>
          <a:endParaRPr lang="en-US" sz="2500" kern="1200"/>
        </a:p>
      </dsp:txBody>
      <dsp:txXfrm>
        <a:off x="1431058" y="2219896"/>
        <a:ext cx="6670866" cy="1239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56:52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0 24575,'-4'1'0,"1"-1"0,-1 1 0,1 0 0,0-1 0,-1 1 0,1 1 0,0-1 0,0 0 0,0 1 0,0 0 0,0 0 0,0 0 0,0 0 0,0 0 0,1 0 0,-1 1 0,1-1 0,0 1 0,0 0 0,0-1 0,0 1 0,-3 6 0,-3 7 0,1 1 0,0 0 0,-5 21 0,4-13 0,0 1 0,2-1 0,-4 31 0,7-31 0,-2-1 0,-12 40 0,8-39 0,1 1 0,-9 52 0,15-68 0,1 0 0,0 0 0,1 0 0,0 0 0,1 1 0,0-1 0,0 0 0,1 0 0,1 0 0,-1 0 0,5 9 0,-2-11 0,-1-1 0,1 0 0,0 0 0,1 0 0,-1 0 0,1-1 0,1 0 0,-1 0 0,1-1 0,13 8 0,8 4 0,47 19 0,-32-16 0,0-5-1365,-23-10-5461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2T11:57:08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 1 24575,'2'105'0,"-5"116"0,1-200 0,-1-1 0,-1-1 0,-1 1 0,-1 0 0,-1-1 0,-9 18 0,1-5 0,-3-1 0,-32 45 0,37-60 0,-1-1 0,-1 0 0,0-1 0,-33 22 0,24-18 0,-27 25 0,43-36 0,-1 0 0,-1-1 0,1 0 0,-1 0 0,0-1 0,0-1 0,-1 0 0,1 0 0,-1-1 0,0 0 0,0-1 0,0 0 0,0-1 0,-1 0 0,-13-1 0,23 0-57,-1 0 0,1 0 1,-1-1-1,1 1 0,0-1 0,-1 1 0,1-1 0,0 0 0,-1 0 0,1 0 0,0 0 1,0 0-1,0-1 0,0 1 0,0-1 0,0 1 0,0-1 0,1 0 0,-1 1 1,0-1-1,1 0 0,0 0 0,-3-4 0,-3-12-6769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E8FB6-DC55-4AF3-8DB4-B20E22540CB2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ABF00-AAE1-4806-8107-205BDA54FD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908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ABF00-AAE1-4806-8107-205BDA54FD7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60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C366F69-3E9A-44A2-BE9F-585A8112261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045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E970-111E-4897-833D-4C9F4EF85D60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1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6E164-934D-4E43-BDCC-6CBA443FE8C5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0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9EFA1-FA9B-4B08-9D04-026B7C123224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4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53D0-2865-474F-927B-081EDBF09F9B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6AFB-7961-4BA3-BCB9-0F7347860BC8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5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D155-5E58-4CDE-BF42-329862827112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B99C9-D6CB-4AAF-9394-232EE8E2718A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AE7B2-896D-440E-B6E1-FDC7D2F6B32E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828A-ABBC-4B97-8A85-181DE64648A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9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A0298-F3D4-456D-B19B-C5E162C35D3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3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4FFE5993-1D25-4043-B3A4-5BF7945CE123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0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customXml" Target="../ink/ink1.xml"/><Relationship Id="rId7" Type="http://schemas.openxmlformats.org/officeDocument/2006/relationships/diagramData" Target="../diagrams/data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diagramDrawing" Target="../diagrams/drawing2.xml"/><Relationship Id="rId5" Type="http://schemas.openxmlformats.org/officeDocument/2006/relationships/customXml" Target="../ink/ink2.xml"/><Relationship Id="rId10" Type="http://schemas.openxmlformats.org/officeDocument/2006/relationships/diagramColors" Target="../diagrams/colors2.xml"/><Relationship Id="rId4" Type="http://schemas.openxmlformats.org/officeDocument/2006/relationships/image" Target="../media/image11.png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221CDE-5758-4F8A-8E5E-597B1D5AC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1480FC-7901-40F2-8538-739D6CD4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45BCBED-A6B8-49F8-966E-3424F39CB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C5E09C-4939-469C-A1BD-6386726DA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8F181C-A292-EB00-D5B4-2BC5DB61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defTabSz="914400">
              <a:lnSpc>
                <a:spcPct val="85000"/>
              </a:lnSpc>
            </a:pPr>
            <a:r>
              <a:rPr lang="en-GB" b="1" dirty="0">
                <a:solidFill>
                  <a:schemeClr val="bg1"/>
                </a:solidFill>
              </a:rPr>
              <a:t>Evaluating Production Bottlenecks Through Downtime Analysis</a:t>
            </a:r>
            <a:br>
              <a:rPr lang="en-US" sz="44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cap="al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(March- august, 2025)</a:t>
            </a:r>
            <a:endParaRPr lang="en-US" sz="4400" b="1" cap="all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5D8019-EA6A-D82E-2C6B-976565DD583F}"/>
              </a:ext>
            </a:extLst>
          </p:cNvPr>
          <p:cNvSpPr txBox="1">
            <a:spLocks/>
          </p:cNvSpPr>
          <p:nvPr/>
        </p:nvSpPr>
        <p:spPr>
          <a:xfrm>
            <a:off x="1282147" y="5598293"/>
            <a:ext cx="6575895" cy="553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BY: OLUWATOSIN ADENIRAN</a:t>
            </a:r>
          </a:p>
        </p:txBody>
      </p:sp>
      <p:pic>
        <p:nvPicPr>
          <p:cNvPr id="5" name="Picture 4" descr="Person pressing button">
            <a:extLst>
              <a:ext uri="{FF2B5EF4-FFF2-40B4-BE49-F238E27FC236}">
                <a16:creationId xmlns:a16="http://schemas.microsoft.com/office/drawing/2014/main" id="{9115F7FA-8569-4CC1-111D-F1E4320E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" r="3048" b="-3"/>
          <a:stretch>
            <a:fillRect/>
          </a:stretch>
        </p:blipFill>
        <p:spPr>
          <a:xfrm>
            <a:off x="182880" y="256540"/>
            <a:ext cx="5465826" cy="3764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2B80E4-E742-7AF6-AA35-1333D346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5" r="6704" b="3"/>
          <a:stretch>
            <a:fillRect/>
          </a:stretch>
        </p:blipFill>
        <p:spPr>
          <a:xfrm>
            <a:off x="5648706" y="256540"/>
            <a:ext cx="3315679" cy="37642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120A18-38F8-33EC-F73C-8FC433FF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8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99645C8-3CC9-9290-C785-968A0A375FE6}"/>
              </a:ext>
            </a:extLst>
          </p:cNvPr>
          <p:cNvSpPr/>
          <p:nvPr/>
        </p:nvSpPr>
        <p:spPr>
          <a:xfrm>
            <a:off x="1742467" y="385863"/>
            <a:ext cx="6691414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EXECUTIVE SUMMARY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FA6D2C6-3B62-82E5-ADE0-F15550291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5587941"/>
              </p:ext>
            </p:extLst>
          </p:nvPr>
        </p:nvGraphicFramePr>
        <p:xfrm>
          <a:off x="869751" y="1530265"/>
          <a:ext cx="7404497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B7EBA9-E643-E3AE-0E7F-FCCD2EB5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600" smtClean="0">
                <a:solidFill>
                  <a:schemeClr val="tx1"/>
                </a:solidFill>
              </a:rPr>
              <a:t>2</a:t>
            </a:fld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4C6FE-87C6-F28F-F878-5E37AD53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17" y="352952"/>
            <a:ext cx="8702283" cy="771728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pPr defTabSz="914400"/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DOWNTIME FACTOR OVERVIEW </a:t>
            </a:r>
            <a:b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INSIGHTS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E46B52-75BE-448A-53AB-6909917DF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1" y="1233791"/>
            <a:ext cx="8675004" cy="398671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GREENFOAM HANDSOAP 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showed the highest number of factors (323) recorded.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top 3 factors causing these downtimes are: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		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materials shortage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Scheduling/ Coordination Delay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450" y="243840"/>
            <a:ext cx="879348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A5751-A066-0BDB-584A-8FD782ADC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74" y="3628418"/>
            <a:ext cx="4347845" cy="28075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30C2F6-040C-2DA3-6EFD-E2D5B921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408" y="3630804"/>
            <a:ext cx="4070761" cy="28165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90D640-D9F6-33D1-BB58-423EA28F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89055" y="6352021"/>
            <a:ext cx="1279663" cy="365125"/>
          </a:xfrm>
        </p:spPr>
        <p:txBody>
          <a:bodyPr/>
          <a:lstStyle/>
          <a:p>
            <a:fld id="{C1FF6DA9-008F-8B48-92A6-B652298478BF}" type="slidenum">
              <a:rPr lang="en-US" sz="1200" smtClean="0">
                <a:solidFill>
                  <a:schemeClr val="tx1"/>
                </a:solidFill>
              </a:rPr>
              <a:t>3</a:t>
            </a:fld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3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A875D0D-3C9D-4DCD-B596-0CA5384D7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5B5FA5-19AF-46C9-BEE5-FF4F509E2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162E4B-773B-41AA-BD90-3EE2C721E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5FB5DD-2BD8-4EA4-896C-C34AB7BFC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C9F924-4077-DC77-06AD-53DB44CD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>
                <a:solidFill>
                  <a:srgbClr val="FFFFFF"/>
                </a:solidFill>
              </a:rPr>
              <a:t>FACTOR OVERVIEW CONTD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8FEBC3-D934-4EF0-AF44-996F1EAC4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E28A7D-691B-B6F9-CDC0-8AC5DE64E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1666"/>
          <a:stretch>
            <a:fillRect/>
          </a:stretch>
        </p:blipFill>
        <p:spPr>
          <a:xfrm>
            <a:off x="291830" y="325702"/>
            <a:ext cx="3920247" cy="3859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BA9244-F6F3-52C7-47FE-EC68B5D1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45" t="38894" r="56588" b="36537"/>
          <a:stretch>
            <a:fillRect/>
          </a:stretch>
        </p:blipFill>
        <p:spPr>
          <a:xfrm>
            <a:off x="4212077" y="217782"/>
            <a:ext cx="4729527" cy="391879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FF5E5D9-BB8D-A664-1DA3-0AB319F9202B}"/>
              </a:ext>
            </a:extLst>
          </p:cNvPr>
          <p:cNvSpPr txBox="1">
            <a:spLocks/>
          </p:cNvSpPr>
          <p:nvPr/>
        </p:nvSpPr>
        <p:spPr>
          <a:xfrm>
            <a:off x="1282147" y="5598293"/>
            <a:ext cx="6575895" cy="5536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spcBef>
                <a:spcPts val="1400"/>
              </a:spcBef>
              <a:buFont typeface="Corbel" pitchFamily="34" charset="0"/>
              <a:buNone/>
            </a:pPr>
            <a:r>
              <a:rPr lang="en-US" sz="1700" b="1" dirty="0">
                <a:solidFill>
                  <a:schemeClr val="tx1"/>
                </a:solidFill>
              </a:rPr>
              <a:t>Linda had 71% batch delay in the 41 batches produced, which accounts for about 29 of the 41 batches</a:t>
            </a:r>
          </a:p>
          <a:p>
            <a:pPr marL="0" indent="0" algn="ctr" defTabSz="914400">
              <a:spcBef>
                <a:spcPts val="1400"/>
              </a:spcBef>
              <a:buFont typeface="Corbel" pitchFamily="34" charset="0"/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0" indent="0" algn="ctr" defTabSz="914400">
              <a:spcBef>
                <a:spcPts val="1400"/>
              </a:spcBef>
              <a:buFont typeface="Corbel" pitchFamily="34" charset="0"/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7800145-2A6E-D32E-8306-63B90FC5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32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71362F-6305-42A2-8633-285CE381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1F50C1-F708-485D-B1A9-65873AB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F7F52A-561E-4CE4-A251-1565CF80F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67E998-E312-45A7-A84D-81D93420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6BA022-487D-C07E-942E-D0C0A511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610112"/>
            <a:ext cx="7475220" cy="779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 dirty="0">
                <a:solidFill>
                  <a:srgbClr val="FFFFFF"/>
                </a:solidFill>
              </a:rPr>
              <a:t>FACTOR OVERVIEW CONTD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A3BFD8-1DCA-4E53-9E5F-9292C9BE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7A9EF-5A6A-7B3C-8E81-02AB9D163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696" y="636736"/>
            <a:ext cx="4432234" cy="3370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4CA2FF-C708-BC9F-1F9B-B9E92A38D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40" y="711643"/>
            <a:ext cx="4383926" cy="3167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275DF9-55E7-DF9B-9E27-C036EE68CF49}"/>
              </a:ext>
            </a:extLst>
          </p:cNvPr>
          <p:cNvSpPr txBox="1"/>
          <p:nvPr/>
        </p:nvSpPr>
        <p:spPr>
          <a:xfrm>
            <a:off x="330740" y="5413830"/>
            <a:ext cx="84727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Paul recorded the highest number of downtime events (164) across 128 delayed batches, averaging </a:t>
            </a:r>
            <a:r>
              <a:rPr lang="en-GB" b="1" dirty="0"/>
              <a:t>1.28 downtime events per delayed batch</a:t>
            </a:r>
            <a:r>
              <a:rPr lang="en-GB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James recorded fewer downtime events (144) but across only 95 delayed batches, averaging </a:t>
            </a:r>
            <a:r>
              <a:rPr lang="en-GB" b="1" dirty="0"/>
              <a:t>1.52 downtime events per delayed batch</a:t>
            </a:r>
            <a:r>
              <a:rPr lang="en-GB" dirty="0"/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FC9EC94-26B6-C98A-0355-0A17C9617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13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AC69-ED77-2303-FA8B-65C0E890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Keynotes of Factor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3F9C8-CFFA-FC2A-A232-09554BF1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Paul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recorded the highest downtime frequency (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164 events across 128 batches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recorded 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 downtime events across 95 batches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higher downtime intensity per delayed batch. </a:t>
            </a:r>
          </a:p>
          <a:p>
            <a:pPr algn="just"/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Linda, Sophia, and Rita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had the highest percentage of delayed batches, suggesting a greater proportion of their assigned batches experienced delays.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B2433-E7CC-E5FE-8BD2-811E9BE8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D0FD28-3F25-5E5B-D82F-EC7E3605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20" t="38999" r="46773" b="36604"/>
          <a:stretch>
            <a:fillRect/>
          </a:stretch>
        </p:blipFill>
        <p:spPr>
          <a:xfrm>
            <a:off x="224870" y="998283"/>
            <a:ext cx="4133124" cy="2821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D43ABC-2E75-4996-BA17-83FDA68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01" t="38684" r="25674" b="36919"/>
          <a:stretch>
            <a:fillRect/>
          </a:stretch>
        </p:blipFill>
        <p:spPr>
          <a:xfrm>
            <a:off x="4679004" y="3786776"/>
            <a:ext cx="4198733" cy="282102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124A9AE-9A8B-9256-261E-55407718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098" y="284486"/>
            <a:ext cx="7407275" cy="713797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DOWNTIME DURATION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2F013-B319-6C5A-748E-7218779E749E}"/>
              </a:ext>
            </a:extLst>
          </p:cNvPr>
          <p:cNvSpPr txBox="1"/>
          <p:nvPr/>
        </p:nvSpPr>
        <p:spPr>
          <a:xfrm>
            <a:off x="4357994" y="1121554"/>
            <a:ext cx="45197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GreenFoam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190.9 hours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delay time, which is significantly higher than the rest.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 duration peaked in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(~96 hours)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and March were also relatively high. April recorded the lowest downtime duration.</a:t>
            </a:r>
          </a:p>
          <a:p>
            <a:pPr algn="just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1D2EB5-822A-DB27-05A2-F0EBAB1C3201}"/>
              </a:ext>
            </a:extLst>
          </p:cNvPr>
          <p:cNvSpPr txBox="1"/>
          <p:nvPr/>
        </p:nvSpPr>
        <p:spPr>
          <a:xfrm>
            <a:off x="859650" y="4251647"/>
            <a:ext cx="39652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production costs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throughput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risk of delayed customer orders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73441A5-C26A-AC4E-60C1-433738FC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22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1A61428-6EBB-5691-FD36-F0D248487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511" t="62987" r="46300" b="11963"/>
          <a:stretch>
            <a:fillRect/>
          </a:stretch>
        </p:blipFill>
        <p:spPr>
          <a:xfrm>
            <a:off x="634174" y="1491800"/>
            <a:ext cx="8089661" cy="27675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420379A-6DB1-229B-74A3-C319CFCE2C2F}"/>
                  </a:ext>
                </a:extLst>
              </p14:cNvPr>
              <p14:cNvContentPartPr/>
              <p14:nvPr/>
            </p14:nvContentPartPr>
            <p14:xfrm>
              <a:off x="839794" y="2178245"/>
              <a:ext cx="109080" cy="291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420379A-6DB1-229B-74A3-C319CFCE2C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674" y="2172133"/>
                <a:ext cx="121320" cy="304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4B7261E-2F4C-2A4B-78CF-B1432D10D505}"/>
                  </a:ext>
                </a:extLst>
              </p14:cNvPr>
              <p14:cNvContentPartPr/>
              <p14:nvPr/>
            </p14:nvContentPartPr>
            <p14:xfrm>
              <a:off x="4036734" y="2178245"/>
              <a:ext cx="196560" cy="302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4B7261E-2F4C-2A4B-78CF-B1432D10D5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0625" y="2172125"/>
                <a:ext cx="208778" cy="3146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0322E098-1AE9-5A7F-3CB5-692BDCC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7008" y="228504"/>
            <a:ext cx="8978630" cy="1355725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DOWNTIME DURATION CONTD</a:t>
            </a:r>
          </a:p>
        </p:txBody>
      </p:sp>
      <p:graphicFrame>
        <p:nvGraphicFramePr>
          <p:cNvPr id="20" name="TextBox 12">
            <a:extLst>
              <a:ext uri="{FF2B5EF4-FFF2-40B4-BE49-F238E27FC236}">
                <a16:creationId xmlns:a16="http://schemas.microsoft.com/office/drawing/2014/main" id="{90DFD065-7CE3-151F-CF22-7AE1AFCA52AC}"/>
              </a:ext>
            </a:extLst>
          </p:cNvPr>
          <p:cNvGraphicFramePr/>
          <p:nvPr/>
        </p:nvGraphicFramePr>
        <p:xfrm>
          <a:off x="527169" y="4674779"/>
          <a:ext cx="7945621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60D7BC-C7EB-5CA8-DE6F-BB806438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6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271C28-7496-4447-8541-7B39F5E9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9371C-75E2-7739-7EBC-30B3FB26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22" y="216317"/>
            <a:ext cx="7029346" cy="135636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SCHEDULING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C7EB1-872D-3EE5-21FF-B78026362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77" t="38368" r="25957" b="12081"/>
          <a:stretch>
            <a:fillRect/>
          </a:stretch>
        </p:blipFill>
        <p:spPr>
          <a:xfrm>
            <a:off x="299148" y="1473491"/>
            <a:ext cx="3981022" cy="51406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7D81-3B7D-F176-8F8C-648F1A99D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0170" y="1507538"/>
            <a:ext cx="4560872" cy="4038600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noticed that 4 operators- Paul, James, Emily and Mike, had multiple batches running simultaneously which could lead to downtimes and batch errors.</a:t>
            </a:r>
          </a:p>
          <a:p>
            <a:pPr algn="just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 Multiple batch days, 131 factors and 109 batches.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C102C57-AA21-053D-4390-1BF5AE4B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5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A9EDC-0C89-F65E-5133-2A1C617B6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768" y="1762164"/>
            <a:ext cx="7996028" cy="2117714"/>
          </a:xfrm>
        </p:spPr>
        <p:txBody>
          <a:bodyPr/>
          <a:lstStyle/>
          <a:p>
            <a:pPr algn="just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multiple-batch operations, 109 batches were processed and 131 downtime events were recorded. </a:t>
            </a:r>
          </a:p>
          <a:p>
            <a:pPr algn="just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batches handled under higher workload conditions experienced an average of 1.2 downtime incidents per batch, suggesting that multiple-batch scheduling may increase operational complexity and the likelihood of production disruptions.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D2F585-E721-E760-2E63-A9A0446BA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117584"/>
              </p:ext>
            </p:extLst>
          </p:nvPr>
        </p:nvGraphicFramePr>
        <p:xfrm>
          <a:off x="872712" y="4007796"/>
          <a:ext cx="7404099" cy="1723744"/>
        </p:xfrm>
        <a:graphic>
          <a:graphicData uri="http://schemas.openxmlformats.org/drawingml/2006/table">
            <a:tbl>
              <a:tblPr/>
              <a:tblGrid>
                <a:gridCol w="2468033">
                  <a:extLst>
                    <a:ext uri="{9D8B030D-6E8A-4147-A177-3AD203B41FA5}">
                      <a16:colId xmlns:a16="http://schemas.microsoft.com/office/drawing/2014/main" val="4134695222"/>
                    </a:ext>
                  </a:extLst>
                </a:gridCol>
                <a:gridCol w="2468033">
                  <a:extLst>
                    <a:ext uri="{9D8B030D-6E8A-4147-A177-3AD203B41FA5}">
                      <a16:colId xmlns:a16="http://schemas.microsoft.com/office/drawing/2014/main" val="3634088885"/>
                    </a:ext>
                  </a:extLst>
                </a:gridCol>
                <a:gridCol w="2468033">
                  <a:extLst>
                    <a:ext uri="{9D8B030D-6E8A-4147-A177-3AD203B41FA5}">
                      <a16:colId xmlns:a16="http://schemas.microsoft.com/office/drawing/2014/main" val="4293544311"/>
                    </a:ext>
                  </a:extLst>
                </a:gridCol>
              </a:tblGrid>
              <a:tr h="43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Multiple-Batch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6775682"/>
                  </a:ext>
                </a:extLst>
              </a:tr>
              <a:tr h="43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Downtime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38871"/>
                  </a:ext>
                </a:extLst>
              </a:tr>
              <a:tr h="43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507432"/>
                  </a:ext>
                </a:extLst>
              </a:tr>
              <a:tr h="43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 per Batch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0918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0DAB1E5-B364-2769-3D9B-41B10BDB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9" y="609600"/>
            <a:ext cx="8377924" cy="135636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SCHEDULING CONTD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18E51-1926-4B48-5BAC-08249E3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03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EA7E-B414-FA3C-6003-6E422A2B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917643"/>
          </a:xfrm>
        </p:spPr>
        <p:txBody>
          <a:bodyPr/>
          <a:lstStyle/>
          <a:p>
            <a:r>
              <a:rPr lang="en-GB" dirty="0"/>
              <a:t>	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OF DOWNTIMES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62048-EE88-E4F2-15D0-6A3B4C52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63" y="1643974"/>
            <a:ext cx="4058458" cy="445202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Downtime Causes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/ Sanitation Cycle 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 / Coordination Delays 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Material Shortages 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Holds 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Breakdowns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B00EE-C262-FFB5-6DEB-18348C96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F079E5-66C3-53EC-7391-2942CEE36684}"/>
              </a:ext>
            </a:extLst>
          </p:cNvPr>
          <p:cNvSpPr txBox="1">
            <a:spLocks/>
          </p:cNvSpPr>
          <p:nvPr/>
        </p:nvSpPr>
        <p:spPr>
          <a:xfrm>
            <a:off x="4572000" y="1643974"/>
            <a:ext cx="3776357" cy="4586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1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3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5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7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" indent="0" algn="ctr"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Downtime Causes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Preventive Maintenance activities.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Lockout / Emergency Stops.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Changeover Delays between products. 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Packaging Material Defects. 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870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FF07-E417-9C5E-13C9-9D7A5DB1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26" y="463685"/>
            <a:ext cx="8137430" cy="596630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for Downtime impact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FEFC7-C6CB-5896-A9DA-48E8D93AC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8" y="1060315"/>
            <a:ext cx="8137429" cy="516351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Inefficiency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major downtime drivers such as Cleaning/Sanitation and Scheduling Delays through process optimization.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preventive maintenance and operator training to minimize avoidable production interruptions.</a:t>
            </a: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Costs($1.5 million loss annually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improvement initiatives on high-impact products such as </a:t>
            </a:r>
            <a:r>
              <a:rPr lang="en-GB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GreenFoam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 Soap to reduce revenue losses.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downtime costs by product, factor, and operator to prioritize corrective actions.</a:t>
            </a: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8C2B-A7E2-9F04-688B-680F7A44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3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956A-BF1B-FA4A-CF04-2979584BE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409700"/>
            <a:ext cx="7404653" cy="40386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Delays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production planning and coordination to reduce delayed batches and missed delivery deadlines.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Establish early warning alerts for production bottlenecks affecting customer orders.</a:t>
            </a: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Wastage</a:t>
            </a:r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dirty="0"/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inventory forecasting to prevent raw material shortages and excess stock. </a:t>
            </a:r>
          </a:p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inventory control measures with defined reorder levels for critical materials.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2931C-88F0-7E90-798F-7490112A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84B3E-F9ED-91A5-4B80-D62FD412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79" y="269046"/>
            <a:ext cx="8511701" cy="99936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for Downtime impact areas CONTD</a:t>
            </a:r>
          </a:p>
        </p:txBody>
      </p:sp>
    </p:spTree>
    <p:extLst>
      <p:ext uri="{BB962C8B-B14F-4D97-AF65-F5344CB8AC3E}">
        <p14:creationId xmlns:p14="http://schemas.microsoft.com/office/powerpoint/2010/main" val="4024031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DC8E-EC2B-D68B-5CAA-BED567EC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Expected Impact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CDDA-B2A8-E0DB-3D37-607917F5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7147" y="6223828"/>
            <a:ext cx="12796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BB2378CB-1338-B0CC-971D-3027223EC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572433"/>
              </p:ext>
            </p:extLst>
          </p:nvPr>
        </p:nvGraphicFramePr>
        <p:xfrm>
          <a:off x="509607" y="1635220"/>
          <a:ext cx="8101925" cy="413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835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C3C7D9-A249-3D31-B46B-81E24703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4" t="18511" r="26064" b="11324"/>
          <a:stretch>
            <a:fillRect/>
          </a:stretch>
        </p:blipFill>
        <p:spPr>
          <a:xfrm>
            <a:off x="184826" y="1040860"/>
            <a:ext cx="8764621" cy="540080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5FA4C-4E88-81A7-CEDE-4B87F088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1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C97080-C3B2-359C-5A3B-3738BC96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7" t="19040" r="25923" b="12685"/>
          <a:stretch>
            <a:fillRect/>
          </a:stretch>
        </p:blipFill>
        <p:spPr>
          <a:xfrm>
            <a:off x="243056" y="622570"/>
            <a:ext cx="8739858" cy="473736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2C387-2995-FB94-B6D5-DC8A9B5F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71AF6-C61C-91B6-B939-EC8DF01ACF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8" t="18435" r="25638" b="12156"/>
          <a:stretch>
            <a:fillRect/>
          </a:stretch>
        </p:blipFill>
        <p:spPr>
          <a:xfrm>
            <a:off x="178994" y="1070042"/>
            <a:ext cx="8786012" cy="48054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211B-3206-0E4E-3E22-95D3A28A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5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20FC6C-0DCF-3F1B-49F4-8D72610B5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1" t="18219" r="25851" b="11994"/>
          <a:stretch>
            <a:fillRect/>
          </a:stretch>
        </p:blipFill>
        <p:spPr>
          <a:xfrm>
            <a:off x="264447" y="1157592"/>
            <a:ext cx="8632579" cy="48054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23970-074D-A463-A8FB-4624231A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21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271C28-7496-4447-8541-7B39F5E94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C92B5720-234D-3D57-4CA3-022EA45A98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70" y="1452447"/>
            <a:ext cx="3445286" cy="34452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0861D-F550-788F-52E9-9F4DF53E2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6097" y="1997926"/>
            <a:ext cx="4455539" cy="2471816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77A1-B72A-CCB8-3DE5-B8E7E292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7147" y="6223828"/>
            <a:ext cx="127966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271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725</TotalTime>
  <Words>664</Words>
  <Application>Microsoft Office PowerPoint</Application>
  <PresentationFormat>On-screen Show (4:3)</PresentationFormat>
  <Paragraphs>103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Corbel</vt:lpstr>
      <vt:lpstr>Times New Roman</vt:lpstr>
      <vt:lpstr>Wingdings</vt:lpstr>
      <vt:lpstr>Basis</vt:lpstr>
      <vt:lpstr>Evaluating Production Bottlenecks Through Downtime Analysis (March- august, 2025)</vt:lpstr>
      <vt:lpstr>PowerPoint Presentation</vt:lpstr>
      <vt:lpstr>DOWNTIME FACTOR OVERVIEW     INSIGHTS</vt:lpstr>
      <vt:lpstr>FACTOR OVERVIEW CONTD</vt:lpstr>
      <vt:lpstr>FACTOR OVERVIEW CONTD</vt:lpstr>
      <vt:lpstr>Keynotes of Factor Overview</vt:lpstr>
      <vt:lpstr>  DOWNTIME DURATION</vt:lpstr>
      <vt:lpstr>  DOWNTIME DURATION CONTD</vt:lpstr>
      <vt:lpstr>OPERATION SCHEDULING</vt:lpstr>
      <vt:lpstr>OPERATION SCHEDULING CONTD</vt:lpstr>
      <vt:lpstr> CAUSES OF DOWNTIMES</vt:lpstr>
      <vt:lpstr>Recommendation for Downtime impact areas</vt:lpstr>
      <vt:lpstr>Recommendation for Downtime impact areas CONTD</vt:lpstr>
      <vt:lpstr>  Expected Impact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Oluwatosin Ayodele</cp:lastModifiedBy>
  <cp:revision>10</cp:revision>
  <dcterms:created xsi:type="dcterms:W3CDTF">2013-01-27T09:14:16Z</dcterms:created>
  <dcterms:modified xsi:type="dcterms:W3CDTF">2026-06-22T18:38:27Z</dcterms:modified>
  <cp:category/>
</cp:coreProperties>
</file>